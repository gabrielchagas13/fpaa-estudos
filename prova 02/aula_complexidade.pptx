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F346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0116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FPAA · PUC Minas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Complexidade Computacional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6D6A0"/>
                </a:solidFill>
              </a:rPr>
              <a:t>P</a:t>
            </a:r>
            <a:pPr algn="l" indent="0" marL="0">
              <a:buNone/>
            </a:pPr>
            <a:r>
              <a:rPr lang="en-US" sz="5200" dirty="0">
                <a:solidFill>
                  <a:srgbClr val="FFFFFF"/>
                </a:solidFill>
              </a:rPr>
              <a:t>, </a:t>
            </a:r>
            <a:pPr algn="l" indent="0" marL="0">
              <a:buNone/>
            </a:pPr>
            <a:r>
              <a:rPr lang="en-US" sz="5200" b="1" dirty="0">
                <a:solidFill>
                  <a:srgbClr val="FFD166"/>
                </a:solidFill>
              </a:rPr>
              <a:t>NP</a:t>
            </a:r>
            <a:pPr algn="l" indent="0" marL="0">
              <a:buNone/>
            </a:pPr>
            <a:r>
              <a:rPr lang="en-US" sz="5200" dirty="0">
                <a:solidFill>
                  <a:srgbClr val="FFFFFF"/>
                </a:solidFill>
              </a:rPr>
              <a:t> e </a:t>
            </a:r>
            <a:pPr algn="l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co-NP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Transformação, Redução e NP-Completo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Prof. Felipe de Castro Belém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que vamos 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Problemas de Decisão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Classe 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Classe NP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Classe co-NP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50292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Exercícios (P/NP/co-NP)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50292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2011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Redução Polinomial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50292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NP-Completo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50292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Exercícios de Redução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Problemas de Decisão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0F3460">
              <a:alpha val="30000"/>
            </a:srgbClr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A resposta é sempre SIM ou NÃO.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2560320"/>
          </a:xfrm>
          <a:prstGeom prst="rect">
            <a:avLst/>
          </a:prstGeom>
          <a:solidFill>
            <a:srgbClr val="0F3460">
              <a:alpha val="2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</a:rPr>
              <a:t>❌ Otimização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</a:rPr>
              <a:t>"Qual a rota mais barata de BH pra SP?"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Difícil de classificar diretamente.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0F3460">
              <a:alpha val="20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✅ Decisão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</a:rPr>
              <a:t>"Existe rota de BH pra SP com ≤ R$200?"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Resposta: SIM ou NÃO → permite classificar.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Todo problema de otimização tem uma versão de decisão equivalente.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Classe </a:t>
            </a:r>
            <a:pPr indent="0" marL="0">
              <a:buNone/>
            </a:pPr>
            <a:r>
              <a:rPr lang="en-US" sz="3000" b="1" dirty="0">
                <a:solidFill>
                  <a:srgbClr val="06D6A0"/>
                </a:solidFill>
              </a:rPr>
              <a:t>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solidFill>
            <a:srgbClr val="064E3B">
              <a:alpha val="50000"/>
            </a:srgbClr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D6A0"/>
                </a:solidFill>
              </a:rPr>
              <a:t>Problemas resolvidos em tempo polinomial O(nᵏ)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Ordenação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Merge Sort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O(n log 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Caminho mínimo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Dijkstra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O(E + V log V)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011680"/>
            <a:ext cx="26517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Árvore geradora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Kruskal / Prim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O(E log V)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383280"/>
            <a:ext cx="26517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2-coloração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BFS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O(V + 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38328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383280"/>
            <a:ext cx="26517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Grafo euleriano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Checar graus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O(V + 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3383280"/>
            <a:ext cx="265176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383280"/>
            <a:ext cx="2651760" cy="2743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Primalidade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AKS (2002)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O(log⁶ 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Classe </a:t>
            </a:r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</a:rPr>
              <a:t>NP</a:t>
            </a:r>
            <a:pPr indent="0" marL="0">
              <a:buNone/>
            </a:pPr>
            <a:r>
              <a:rPr lang="en-US" sz="1600" dirty="0">
                <a:solidFill>
                  <a:srgbClr val="EF476F"/>
                </a:solidFill>
              </a:rPr>
              <a:t>  ≠  Não Polinomial!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78350F">
              <a:alpha val="50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A resposta SIM pode ser verificada em tempo polinomial (dado um certificado)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76F"/>
                </a:solidFill>
              </a:rPr>
              <a:t>RESOLVER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920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vs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</a:rPr>
              <a:t>VERIFICAR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EF476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231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Montar 5000 peças de um quebra-cabeça do zero — pode levar dias.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331720"/>
            <a:ext cx="3657600" cy="237744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4231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Checar se o quebra-cabeça montado está certo — basta olhar. Minutos.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 ⊆ NP — todo problema em P também está em NP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Certificados — A chave de NP e co-NP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Certificado Positivo (NP)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</a:rPr>
              <a:t>Prova que a resposta é SIM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Exemplo: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"n é composto?"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Certificado: divisor d com 1 &lt; d &lt;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Verificação: checar d | n → O(log² 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Certificado Negativo (co-NP)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</a:rPr>
              <a:t>Prova que a resposta é NÃO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Exemplo: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"n é primo?"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Certificado negativo: um divisor d mostra que NÃO é primo.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Verificação: O(log² 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Se está em P → certif. positivo E negativo existem. Problema em NPC → certif. positivo existe, negativo não se sabe.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Relação entre P, NP e co-NP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840480"/>
          </a:xfrm>
          <a:prstGeom prst="ellipse">
            <a:avLst/>
          </a:prstGeom>
          <a:solidFill>
            <a:srgbClr val="FFD166">
              <a:alpha val="15000"/>
            </a:srgbClr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</a:rPr>
              <a:t>NP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3840480"/>
          </a:xfrm>
          <a:prstGeom prst="ellipse">
            <a:avLst/>
          </a:prstGeom>
          <a:solidFill>
            <a:srgbClr val="00B4D8">
              <a:alpha val="15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960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co-NP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2743200" cy="1828800"/>
          </a:xfrm>
          <a:prstGeom prst="ellipse">
            <a:avLst/>
          </a:prstGeom>
          <a:solidFill>
            <a:srgbClr val="06D6A0">
              <a:alpha val="40000"/>
            </a:srgbClr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D6A0"/>
                </a:solidFill>
              </a:rPr>
              <a:t>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</a:rPr>
              <a:t>NP-C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P ⊆ NP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P ⊆ co-NP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P = NP ∩ co-NP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Exercícios — Classifique: P, NP, co-NP?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1. Maior valor de um vetor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794760" y="1051560"/>
            <a:ext cx="118872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51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P, NP e co-NP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2. Número primo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94760" y="1600200"/>
            <a:ext cx="118872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P, NP e co-NP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03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3. Ordenar vetor crescente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94760" y="2148840"/>
            <a:ext cx="118872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148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P, NP e co-NP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109728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4. Grafo hamiltoniano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94760" y="2697480"/>
            <a:ext cx="1188720" cy="256032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697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NP. co-NP 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200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5. Grafo euleriano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94760" y="3246120"/>
            <a:ext cx="118872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P, NP e co-NP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6. Árvore geradora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794760" y="3794760"/>
            <a:ext cx="118872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P, NP e co-NP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109728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297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7. 3-coloração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94760" y="4343400"/>
            <a:ext cx="1188720" cy="256032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343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NP. co-NP ❓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0" y="100584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8. 2-coloração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1051560"/>
            <a:ext cx="100584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10515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P, NP e co-NP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2080" y="1554480"/>
            <a:ext cx="109728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068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9. Maior clique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92440" y="1600200"/>
            <a:ext cx="1005840" cy="256032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1600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NP. co-NP 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2080" y="2103120"/>
            <a:ext cx="109728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2103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10. Conj. independente máximo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092440" y="2148840"/>
            <a:ext cx="1005840" cy="256032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2148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NP. co-NP 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12080" y="2651760"/>
            <a:ext cx="109728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2651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11. Cobertura mín. vértices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092440" y="2697480"/>
            <a:ext cx="1005840" cy="256032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2697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NP. co-NP 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12080" y="320040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32004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12. Cobertura mín. arestas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092440" y="3246120"/>
            <a:ext cx="100584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3246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P, NP e co-NP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2080" y="3749040"/>
            <a:ext cx="10972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0680" y="3749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13. Contar subconjuntos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092440" y="3794760"/>
            <a:ext cx="1005840" cy="25603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92440" y="3794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P, NP e co-NP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⚠️ Contrastes que caem em prova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solidFill>
            <a:srgbClr val="064E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✅  ESTÁ EM 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3657600" cy="411480"/>
          </a:xfrm>
          <a:prstGeom prst="rect">
            <a:avLst/>
          </a:prstGeom>
          <a:solidFill>
            <a:srgbClr val="450A0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76F"/>
                </a:solidFill>
              </a:rPr>
              <a:t>❌  NÃO SE SABE SE É 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Circuito de Euler (arestas)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657600" cy="502920"/>
          </a:xfrm>
          <a:prstGeom prst="rect">
            <a:avLst/>
          </a:prstGeom>
          <a:solidFill>
            <a:srgbClr val="450A0A">
              <a:alpha val="40000"/>
            </a:srgbClr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76F"/>
                </a:solidFill>
              </a:rPr>
              <a:t>Circuito Hamiltoniano (vértices)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14630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657600" cy="502920"/>
          </a:xfrm>
          <a:prstGeom prst="rect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2-coloração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148840"/>
            <a:ext cx="3657600" cy="502920"/>
          </a:xfrm>
          <a:prstGeom prst="rect">
            <a:avLst/>
          </a:prstGeom>
          <a:solidFill>
            <a:srgbClr val="450A0A">
              <a:alpha val="40000"/>
            </a:srgbClr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76F"/>
                </a:solidFill>
              </a:rPr>
              <a:t>3-coloração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657600" cy="502920"/>
          </a:xfrm>
          <a:prstGeom prst="rect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2-SAT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834640"/>
            <a:ext cx="3657600" cy="502920"/>
          </a:xfrm>
          <a:prstGeom prst="rect">
            <a:avLst/>
          </a:prstGeom>
          <a:solidFill>
            <a:srgbClr val="450A0A">
              <a:alpha val="40000"/>
            </a:srgbClr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76F"/>
                </a:solidFill>
              </a:rPr>
              <a:t>3-SAT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28346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3657600" cy="502920"/>
          </a:xfrm>
          <a:prstGeom prst="rect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Caminho mais curto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520440"/>
            <a:ext cx="3657600" cy="502920"/>
          </a:xfrm>
          <a:prstGeom prst="rect">
            <a:avLst/>
          </a:prstGeom>
          <a:solidFill>
            <a:srgbClr val="450A0A">
              <a:alpha val="40000"/>
            </a:srgbClr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5204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76F"/>
                </a:solidFill>
              </a:rPr>
              <a:t>Caminho simples mais longo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60520" y="35204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4206240"/>
            <a:ext cx="3657600" cy="502920"/>
          </a:xfrm>
          <a:prstGeom prst="rect">
            <a:avLst/>
          </a:prstGeom>
          <a:solidFill>
            <a:srgbClr val="064E3B">
              <a:alpha val="40000"/>
            </a:srgbClr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Cobertura mín. de arestas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4206240"/>
            <a:ext cx="3657600" cy="502920"/>
          </a:xfrm>
          <a:prstGeom prst="rect">
            <a:avLst/>
          </a:prstGeom>
          <a:solidFill>
            <a:srgbClr val="450A0A">
              <a:alpha val="40000"/>
            </a:srgbClr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76F"/>
                </a:solidFill>
              </a:rPr>
              <a:t>Cobertura mín. de vértices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60520" y="42062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Redução Polinomial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312E81">
              <a:alpha val="40000"/>
            </a:srgbClr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</a:rPr>
              <a:t>A ≤ₚ B  →  "Resolvo A usando o algoritmo de B"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01168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</a:rPr>
              <a:t>Instância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</a:rPr>
              <a:t>de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920240"/>
            <a:ext cx="292608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920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f (transforma)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tempo polinomial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920240"/>
            <a:ext cx="201168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Instância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</a:rPr>
              <a:t>de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240280"/>
            <a:ext cx="6400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148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6400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48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73152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0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Se B ∈ P  →  A ∈ 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410712"/>
            <a:ext cx="73152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107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76F"/>
                </a:solidFill>
              </a:rPr>
              <a:t>Se A ∉ P  →  B ∉ P (contrapositiva)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73152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410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NÃO é simétrica: A ≤ₚ B ≠ B ≤ₚ 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471416"/>
            <a:ext cx="73152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714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É transitiva: se A ≤ₚ B e B ≤ₚ C → A ≤ₚ 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D166"/>
                </a:solidFill>
              </a:rPr>
              <a:t>⚠️  A seta vai do mais fácil para o mais difícil. O 'mais difícil' é o B!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76F"/>
                </a:solidFill>
              </a:rPr>
              <a:t>NP-Completo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Um problema é NP-Completo se satisfaz as DUAS condições: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2011680"/>
          </a:xfrm>
          <a:prstGeom prst="rect">
            <a:avLst/>
          </a:prstGeom>
          <a:solidFill>
            <a:srgbClr val="7F1D1D">
              <a:alpha val="40000"/>
            </a:srgbClr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7190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</a:rPr>
              <a:t>Está em NP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O SIM pode ser verificado em tempo polinomial (certificado existe).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2011680"/>
          </a:xfrm>
          <a:prstGeom prst="rect">
            <a:avLst/>
          </a:prstGeom>
          <a:solidFill>
            <a:srgbClr val="7F1D1D">
              <a:alpha val="40000"/>
            </a:srgbClr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691640"/>
            <a:ext cx="548640" cy="5486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17190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</a:rPr>
              <a:t>É NP-Difícil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240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Todo problema em NP se reduz a ele. É o mais difícil possível dentro de NP.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7F1D1D">
              <a:alpha val="60000"/>
            </a:srgbClr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Se QUALQUER NP-C for resolvido em tempo polinomial → P = NP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Exemplos NP-C: 3-SAT · CLIQUE · Cobertura de Vértices · Hamiltoniano · TSP · Subset Sum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Cook-Levin (1971) — O Primeiro NP-C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7F1D1D">
              <a:alpha val="40000"/>
            </a:srgbClr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</a:rPr>
              <a:t>SAT foi provado NP-C sem redução anterior — quebrou o ovo e a galinha!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</a:rPr>
              <a:t>Cadeia de reduções do CLRS: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219456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3-SAT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19456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CLIQUE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194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COB. VÉRTICES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HAMILTONIANO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329184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TSP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329184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0624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SUBSET SUM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1645920" cy="50292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PARTIÇÃO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5448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0896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94560" y="3383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3383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383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Cada → é uma redução polinomial. Cada novo problema herda o status NP-C.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Basta reduzir UM NP-C conhecido para o novo problema (pela transitividade de ≤ₚ)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1942"/>
          </a:solidFill>
          <a:ln w="12700">
            <a:solidFill>
              <a:srgbClr val="4A1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Exercícios de Transformação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Use o algoritmo dado para resolver o problema. Descreva cada etapa.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9144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1. Maior nº de arestas s→t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490472"/>
            <a:ext cx="1645920" cy="27432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Dijkstra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49240" y="14538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Peso -1 em cada aresta → minimizar = maximizar arestas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841248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30552"/>
            <a:ext cx="9144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2. Emparelhamento máximo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1880" y="2203704"/>
            <a:ext cx="1645920" cy="27432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203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Ford-Fulkerson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21671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Rede: fonte → L → R → sumidouro, capacidade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841248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43784"/>
            <a:ext cx="9144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62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3. Conjunto independente máx.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2916936"/>
            <a:ext cx="1645920" cy="27432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916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Cobertura mín. vértices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2880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I* = V \ C* (complemento da cobertura mínima)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57016"/>
            <a:ext cx="841248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57016"/>
            <a:ext cx="9144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753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4. Maior clique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11880" y="3630168"/>
            <a:ext cx="1645920" cy="27432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630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Conj. independente máx.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49240" y="35935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Construir complemento Ḡ. Clique em G = independente em 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70248"/>
            <a:ext cx="8412480" cy="594360"/>
          </a:xfrm>
          <a:prstGeom prst="rect">
            <a:avLst/>
          </a:prstGeom>
          <a:solidFill>
            <a:srgbClr val="16213E"/>
          </a:solidFill>
          <a:ln w="12700">
            <a:solidFill>
              <a:srgbClr val="818C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270248"/>
            <a:ext cx="9144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88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5. Verificar se bipartido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11880" y="4343400"/>
            <a:ext cx="1645920" cy="274320"/>
          </a:xfrm>
          <a:prstGeom prst="rect">
            <a:avLst/>
          </a:prstGeom>
          <a:solidFill>
            <a:srgbClr val="312E81">
              <a:alpha val="5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</a:rPr>
              <a:t>Coloração mínima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49240" y="43068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Bipartido ⟺ χ(G) ≤ 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🎯  Roteiro para a Prova do Felipe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3327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Escreva o problema de decisão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Transforme em SIM/NÃO. Ex: "Existe clique de tamanho ≥ k?"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6D6A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37944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1764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Tente achar algoritmo polinomial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 achar → P, NP e co-NP. Acabou.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FD16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42616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5694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Defina certificado positivo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8950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 que prova o SIM? Mostre verificação polinomial → NP 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44728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47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337413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Defina certificado negativo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69417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 que prova o NÃO? Se verificação polinomial → co-NP ✅. Se não → co-NP 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41248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94A3B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251960"/>
            <a:ext cx="502920" cy="5029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4178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Liste as classes e justifique cada uma.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F3460">
              <a:alpha val="20000"/>
            </a:srgbClr>
          </a:solidFill>
          <a:ln w="12700">
            <a:solidFill>
              <a:srgbClr val="0F34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Resumão final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6D6A0"/>
                </a:solidFill>
              </a:rPr>
              <a:t>P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⊆ </a:t>
            </a:r>
            <a:pPr algn="l" indent="0" marL="0">
              <a:buNone/>
            </a:pPr>
            <a:r>
              <a:rPr lang="en-US" sz="4000" b="1" dirty="0">
                <a:solidFill>
                  <a:srgbClr val="FFD166"/>
                </a:solidFill>
              </a:rPr>
              <a:t>NP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 e  </a:t>
            </a:r>
            <a:pPr algn="l" indent="0" marL="0">
              <a:buNone/>
            </a:pPr>
            <a:r>
              <a:rPr lang="en-US" sz="4000" b="1" dirty="0">
                <a:solidFill>
                  <a:srgbClr val="06D6A0"/>
                </a:solidFill>
              </a:rPr>
              <a:t>P</a:t>
            </a:r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 ⊆ </a:t>
            </a:r>
            <a:pPr algn="l" indent="0" marL="0">
              <a:buNone/>
            </a:pPr>
            <a:r>
              <a:rPr lang="en-US" sz="4000" b="1" dirty="0">
                <a:solidFill>
                  <a:srgbClr val="00B4D8"/>
                </a:solidFill>
              </a:rPr>
              <a:t>co-NP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914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P = resolver rápido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9144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249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NP = verificar o SIM rápido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63824"/>
            <a:ext cx="914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6382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co-NP = verificar o NÃO rápido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02736"/>
            <a:ext cx="91440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027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</a:rPr>
              <a:t>A ≤ₚ B → B é pelo menos tão difícil quanto 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041648"/>
            <a:ext cx="9144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416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76F"/>
                </a:solidFill>
              </a:rPr>
              <a:t>NP-C = NP + NP-Difícil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91440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</a:rPr>
              <a:t>P = NP? → Aberto. US$1.000.000 em jogo 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P, NP, co-NP, Transformação e NP-Completo</dc:title>
  <dc:subject>PptxGenJS Presentation</dc:subject>
  <dc:creator>PptxGenJS</dc:creator>
  <cp:lastModifiedBy>PptxGenJS</cp:lastModifiedBy>
  <cp:revision>1</cp:revision>
  <dcterms:created xsi:type="dcterms:W3CDTF">2026-04-25T17:31:44Z</dcterms:created>
  <dcterms:modified xsi:type="dcterms:W3CDTF">2026-04-25T17:31:44Z</dcterms:modified>
</cp:coreProperties>
</file>